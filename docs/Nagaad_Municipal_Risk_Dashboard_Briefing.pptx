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6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320040"/>
            <a:ext cx="1234440" cy="1234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1115568" cy="1115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Nagaad Municipal Risk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E0F2FE"/>
                </a:solidFill>
                <a:latin typeface="Calibri"/>
              </a:rPr>
              <a:t>Flood screening for Beledweyne  ·  what it does and how it is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Nagaad Project  ·  Hiraan  ·  21 September 2026</a:t>
            </a:r>
          </a:p>
          <a:p>
            <a:r>
              <a:rPr sz="1300" b="0">
                <a:solidFill>
                  <a:srgbClr val="E0F2FE"/>
                </a:solidFill>
                <a:latin typeface="Calibri"/>
              </a:rPr>
              <a:t>Indicative screening — not a full probabilistic risk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What this briefing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Why a separate municipal flood dashboard is needed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What municipal staff and Nagaad see on the map and KPIs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How OSM roads and Nagaad investments are analysed separately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Technical architecture: web app, map tiles, Docker ETL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How mixed GIS formats (GeoPackage, KML/KMZ) are converted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How the dashboard is embedded in the Nagaad MIS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Current Beledweyne results, limits, and next layers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Improvements and data the analysis team should collect so this becomes a municipal decision tool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What the dashboard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Gives Beledweyne a city-scoped flood screening view for municipal decision-making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Shows where historical Shabelle flood extents overlap people, buildings, and roads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Separates the city-wide OSM road network from Nagaad / SURP-II invested and design-ready roads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Highlights IDP and host sites with the largest populations in the flood extent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Lives as its own free/open-source app, then is embedded in Nagaad MIS (iframe)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This version is flood only — conflict and other hazards are out of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Scope of this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3657600" cy="21031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400" b="1">
                <a:solidFill>
                  <a:srgbClr val="1E4D7B"/>
                </a:solidFill>
                <a:latin typeface="Calibri"/>
              </a:rPr>
              <a:t>In scope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Beledweyne (Hiraan)
Historical Shabelle flood
Buildings, IDP sites, roads
Nagaad roads and PIU office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051560"/>
            <a:ext cx="3657600" cy="21031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400" b="1">
                <a:solidFill>
                  <a:srgbClr val="1E4D7B"/>
                </a:solidFill>
                <a:latin typeface="Calibri"/>
              </a:rPr>
              <a:t>Intentionally later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Hospitals, schools, markets
(empty layer, schema ready)
Other Nagaad cities
Other hazards (e.g. conflict)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51560"/>
            <a:ext cx="3657600" cy="210312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400" b="1">
                <a:solidFill>
                  <a:srgbClr val="1E4D7B"/>
                </a:solidFill>
                <a:latin typeface="Calibri"/>
              </a:rPr>
              <a:t>Not this product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Probabilistic flood model
Climate projections
Engineering design flood
Insurance / loss modelling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GIS city name is Belet Weyne; MIS city name is Beledweyne — both are used on purpose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Figures are a spatial overlay (intersects / length in flood), not a depth or return-period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What users see: flood KPIs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4846320"/>
              </a:tblGrid>
              <a:tr h="5181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Beledweyne (21 Sep 2026)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Flood area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5,223 ha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Historical flood mask inside the urban polygon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Buildings in flood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47,013 of 51,954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Footprints intersecting the flood extent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IDP people exposed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97,813 (133 of 133 sites)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People at sites that intersect flood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OSM roads in flood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410.3 km of 430.7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City-wide mapped network length in flood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Nagaad roads in flood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22.7 km of 33.9 km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Project completed / ongoing / design-ready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348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OSM and Nagaad kilometres are never mixed — two networks, two totals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Priority table lists the 15 largest IDP sites in flood; click zooms the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Map layers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5156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6126480"/>
              </a:tblGrid>
              <a:tr h="528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it is shown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Flood hazard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Historical flood extent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Blue fill — Shabelle events clipped to the city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Buildings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Red in flood, grey outside (PMTiles)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Exposure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IDP and host sites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Magenta circles sized by population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OSM road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Brown in flood, grey outside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Shabelle river + boundary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Blue centreline; dashed urban extent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Investment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Nagaad project roads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Green = completed/ongoing; purple = design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Investment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Nagaad project sites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PIU office / lab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Services (future)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Hospitals, schools,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Off until points are collected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Two road networks, analysed separately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42062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400" b="1">
                <a:solidFill>
                  <a:srgbClr val="1E4D7B"/>
                </a:solidFill>
                <a:latin typeface="Calibri"/>
              </a:rPr>
              <a:t>OSM / city road network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City-wide OpenStreetMap (SURP II roads clip)
~4,888 segments · 430.7 km
Flood join on the full network
Delivered as compact PMTiles for the browser
KPI: OSM roads in flood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577840" cy="4206240"/>
          </a:xfrm>
          <a:prstGeom prst="roundRect">
            <a:avLst/>
          </a:prstGeom>
          <a:solidFill>
            <a:srgbClr val="EC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400" b="1">
                <a:solidFill>
                  <a:srgbClr val="1E4D7B"/>
                </a:solidFill>
                <a:latin typeface="Calibri"/>
              </a:rPr>
              <a:t>Nagaad project roads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Only SURP-II / Nagaad alignments
Completed + ongoing GeoPackages
Design-ready KML / KMZ
17 features · 33.9 km
Green vs purple by status
KPI: Nagaad roads in flood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How it is put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28600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400" b="1">
                <a:solidFill>
                  <a:srgbClr val="1E4D7B"/>
                </a:solidFill>
                <a:latin typeface="Calibri"/>
              </a:rPr>
              <a:t>1. Raw GIS (local)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~5.9 GB Beledweyne folder
Read-only in Docker
Shapefiles, GPKG, KML/KMZ
Never committed to 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097280"/>
            <a:ext cx="3657600" cy="228600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400" b="1">
                <a:solidFill>
                  <a:srgbClr val="1E4D7B"/>
                </a:solidFill>
                <a:latin typeface="Calibri"/>
              </a:rPr>
              <a:t>2. Docker ETL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Python 3.12 + GeoPandas
Clip to Belet Weyne polygon
Flood overlay + lengths
GeoJSON, GPKG, PMTiles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657600" cy="228600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400" b="1">
                <a:solidFill>
                  <a:srgbClr val="1E4D7B"/>
                </a:solidFill>
                <a:latin typeface="Calibri"/>
              </a:rPr>
              <a:t>3. Web dashboard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Vite + React + TypeScript
MapLibre GL + Esri basemap
Embed ?embed=1 in MIS
GitHub Pages when published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Converted reusable files: converted/beledweyne/  (GeoJSON + QGIS GeoPackage)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Dashboard copies: public/data/beledweyne/  (small GeoJSON + PMTiles)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MIS does not rebuild the map — it catalogues the URL and shows an iframe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Technical stack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51560"/>
          <a:ext cx="115214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754880"/>
                <a:gridCol w="4937760"/>
              </a:tblGrid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Vite 8, React 19, TypeScript, Tailwind 4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Fast local app, typed, simple to embed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MapLibre GL JS 6 + PMTiles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No Mapbox token; large layers stay tiled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Basemap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Esri World Light Gray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No API key; readable under overlays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ETL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Docker, GeoPandas, pyogrio, Shapely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Reproducible GIS on any Windows/Mac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Tiles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tippecanoe (felt)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Buildings ~5.5 MB; OSM roads ~0.9 MB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GitHub Pages +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Free, public, iframe-friendly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MIS link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Firestore riskDashboards + IframeContainer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Access control stays in Nagaad MIS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ETL pipeline (npm run etl)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Bind the local raw folder read-only: D:\Municipal Risk Dashboards\DATA\risk_dashboard\beledweyne_data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Select the SURP II city polygon UrbanName = Belet Weyne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Clip historical flood, Shabelle river, buildings, OSM roads, IDP sites to that polygon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Flag features that intersect flood; measure flooded road length in UTM 38N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Convert SURP-II GeoPackages and Design Ready KML/KMZ to one Nagaad schema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Write summary.json KPIs; PMTiles for flood (z0–14), buildings (z12–16), OSM roads (z10–16)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Keep Nagaad roads as GeoJSON (small); drop huge intermediate building GeoJSON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Converting mixed investment formats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51560"/>
          <a:ext cx="11521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840480"/>
                <a:gridCol w="4389120"/>
              </a:tblGrid>
              <a:tr h="60089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Converted to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SURP-II completed / ongoing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GeoPackage (already WGS84)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GeoJSON + combined GPKG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Design Ready Investments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KML / KMZ (Google Earth)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Same road schema, WGS84 GeoJSON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OSM / SURP city roads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Shapefile or GeoJSON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osm_roads.geojson + roads.pmtiles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Buildings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Large shapefile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buildings.pmtiles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Flood mask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Shapefile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Clipped / simplified PMTiles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Hospitals / schools / 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Not collected yet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Empty facilities.geojson + 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949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Geometry CRS EPSG:4326. Lengths and areas EPSG:32638 (UTM 38N).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Per-file GeoJSON kept under converted/beledweyne/sources/ for correction.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How it sits in Nagaad MIS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The dashboard is a standalone app — it is not rebuilt inside nagaad-mis-portal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Local check first: http://localhost:5173/beledweyne?embed=1 (or the current Vite port)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When published: https://nagaadproject.github.io/nagaad-municipal-risk/beledweyne?embed=1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MIS Admin → Municipal Risk registers that URL for city Beledweyne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The MIS iframe loads embed mode (compact header, no duplicate Nagaad chrome)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GitHub Pages is built by Actions on push to main (workflow_dispatch also allowed)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From overlay screening to municipal decisions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05840"/>
          <a:ext cx="11612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4937760"/>
              </a:tblGrid>
              <a:tr h="8077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the city can do today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is still missing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1. See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Where flood, people, buildings, OSM and Nagaad roads overlap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Depth, duration, neighbourhood names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2. 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Largest IDP sites in flood; Nagaad km in flood vs OSM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 transparent score (people + access + facilities + works)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3. Choose works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See which Nagaad roads are ongoing vs design-ready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Cost, drainage design, residual risk after the work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4. Prepare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Know almost the whole urban area can flood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Safe high ground, evacuation routes, early 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5. Report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Live map in MIS for discussion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One-click briefing pack (map + table) for council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Dashboard improvements to request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Neighbourhood / district summaries (not only city-wide KPIs) so mayors can act by area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Priority score combining IDP people, buildings, critical facilities, and Nagaad road km in flood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Scenario flood layers (e.g. 2018 vs 2020 vs “deep water”) instead of one ever-flooded mask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Critical facilities on the map: hospitals, health posts, schools, markets, water points, municipal offices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Drainage, culverts, bridges, and river banks — the assets that actually fail in Beledweyne floods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Export a one-page PDF/PNG for municipal meetings; Somali labels on the main UI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Link each Nagaad road to MIS works (package, cost, contractor, status) so risk sits next to contracts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Keep OSM and Nagaad separate in every chart and export — that split is already the right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Data to ask the analysis team for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6032" y="1005840"/>
          <a:ext cx="116586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377440"/>
                <a:gridCol w="5257800"/>
              </a:tblGrid>
              <a:tr h="617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Ask for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municipalities need it</a:t>
                      </a:r>
                    </a:p>
                  </a:txBody>
                  <a:tcPr>
                    <a:solidFill>
                      <a:srgbClr val="1E4D7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Flood depth / return period (10–100 yr) or event years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Raster or polygons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Move from “wet/dry” to “how bad”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Neighbourhoods / sections of Beledweyne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Polygon +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Allocate machines, sandbags, and meetings by 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Hospitals, schools, universities, markets, water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Points: name, type, operator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Protect services, not only buildings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Drains, culverts, bridges, pumps, flood walls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Lines/points + 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Find blockage and failure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DEM / low-lying pockets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Raster or contours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Where water stays after the river drops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Nagaad works attributes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Table joined to roads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Cost, package, design standard, drainage Y/N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Past flood damage / displacement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Survey or points by year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Ground the map in what actually happened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E4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Nagaad  ·  Somalia Urban Resilience Project Phase II  ·  Municipal Flood Risk Dashboard</a:t>
            </a:r>
          </a:p>
        </p:txBody>
      </p:sp>
      <p:pic>
        <p:nvPicPr>
          <p:cNvPr id="4" name="Picture 3" descr="nagaa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201168"/>
            <a:ext cx="65836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256032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4D7B"/>
                </a:solidFill>
                <a:latin typeface="Calibri"/>
              </a:rPr>
              <a:t>Ready next, and what this is not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402336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400" b="1">
                <a:solidFill>
                  <a:srgbClr val="1E4D7B"/>
                </a:solidFill>
                <a:latin typeface="Calibri"/>
              </a:rPr>
              <a:t>Ready when data arrives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Hospitals, schools/universities, markets
Same flood join as other points
More Nagaad cities on the same pattern
Optional later: conflict as a second hazard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577840" cy="40233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400" b="1">
                <a:solidFill>
                  <a:srgbClr val="1E4D7B"/>
                </a:solidFill>
                <a:latin typeface="Calibri"/>
              </a:rPr>
              <a:t>Disclaimer</a:t>
            </a:r>
          </a:p>
          <a:p>
            <a:r>
              <a:rPr sz="1300" b="0">
                <a:solidFill>
                  <a:srgbClr val="334155"/>
                </a:solidFill>
                <a:latin typeface="Calibri"/>
              </a:rPr>
              <a:t>Indicative screening from a historical flood mask
Almost the whole urban area is in that mask
Not design flood, depth, or annual probability
Use to screen and discuss, not to replace engineering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